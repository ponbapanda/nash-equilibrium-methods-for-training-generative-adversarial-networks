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Montserrat SemiBold"/>
      <p:regular r:id="rId29"/>
      <p:bold r:id="rId30"/>
      <p:italic r:id="rId31"/>
      <p:boldItalic r:id="rId32"/>
    </p:embeddedFont>
    <p:embeddedFont>
      <p:font typeface="Montserrat"/>
      <p:regular r:id="rId33"/>
      <p:bold r:id="rId34"/>
      <p:italic r:id="rId35"/>
      <p:boldItalic r:id="rId36"/>
    </p:embeddedFont>
    <p:embeddedFont>
      <p:font typeface="Montserrat Medium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SemiBold-italic.fntdata"/><Relationship Id="rId30" Type="http://schemas.openxmlformats.org/officeDocument/2006/relationships/font" Target="fonts/MontserratSemiBold-bold.fntdata"/><Relationship Id="rId11" Type="http://schemas.openxmlformats.org/officeDocument/2006/relationships/slide" Target="slides/slide5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4.xml"/><Relationship Id="rId32" Type="http://schemas.openxmlformats.org/officeDocument/2006/relationships/font" Target="fonts/Montserrat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-bold.fntdata"/><Relationship Id="rId15" Type="http://schemas.openxmlformats.org/officeDocument/2006/relationships/slide" Target="slides/slide9.xml"/><Relationship Id="rId37" Type="http://schemas.openxmlformats.org/officeDocument/2006/relationships/font" Target="fonts/MontserratMedium-regular.fntdata"/><Relationship Id="rId14" Type="http://schemas.openxmlformats.org/officeDocument/2006/relationships/slide" Target="slides/slide8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1.xml"/><Relationship Id="rId39" Type="http://schemas.openxmlformats.org/officeDocument/2006/relationships/font" Target="fonts/MontserratMedium-italic.fntdata"/><Relationship Id="rId16" Type="http://schemas.openxmlformats.org/officeDocument/2006/relationships/slide" Target="slides/slide10.xml"/><Relationship Id="rId38" Type="http://schemas.openxmlformats.org/officeDocument/2006/relationships/font" Target="fonts/MontserratMedium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1a45624be0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1a45624be0_1_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aeadf1cae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1aeadf1cae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aeadf1ca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aeadf1ca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aeadf1cae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aeadf1cae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aeadf1cae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aeadf1cae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aeadf1cae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aeadf1cae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aeadf1cae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aeadf1cae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aeadf1cae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aeadf1cae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aeadf1cae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1aeadf1cae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aeadf1cae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aeadf1cae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aeadf1cae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1aeadf1cae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aeadf1cae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aeadf1cae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a5976e4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a5976e4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aeadf1cae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1aeadf1cae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aeadf1cae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aeadf1cae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aeadf1cae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1aeadf1cae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a4cceead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1a4cceead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a4cceead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1a4cceead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a4cceead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a4cceead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1a4cceead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1a4cceead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1a4cceead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1a4cceead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1a4cceead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1a4cceead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8.png"/><Relationship Id="rId7" Type="http://schemas.openxmlformats.org/officeDocument/2006/relationships/image" Target="../media/image32.png"/><Relationship Id="rId8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36.png"/><Relationship Id="rId7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Relationship Id="rId8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/>
        </p:nvSpPr>
        <p:spPr>
          <a:xfrm>
            <a:off x="327700" y="857250"/>
            <a:ext cx="8398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121212"/>
                </a:solidFill>
              </a:rPr>
              <a:t>Nash Equilibrium Methods</a:t>
            </a:r>
            <a:br>
              <a:rPr b="1" lang="en" sz="4000">
                <a:solidFill>
                  <a:srgbClr val="121212"/>
                </a:solidFill>
              </a:rPr>
            </a:br>
            <a:r>
              <a:rPr b="1" lang="en" sz="4000">
                <a:solidFill>
                  <a:srgbClr val="121212"/>
                </a:solidFill>
              </a:rPr>
              <a:t>T</a:t>
            </a:r>
            <a:r>
              <a:rPr b="1" lang="en" sz="4000">
                <a:solidFill>
                  <a:srgbClr val="121212"/>
                </a:solidFill>
              </a:rPr>
              <a:t>o Train</a:t>
            </a:r>
            <a:br>
              <a:rPr b="1" lang="en" sz="4000">
                <a:solidFill>
                  <a:srgbClr val="121212"/>
                </a:solidFill>
              </a:rPr>
            </a:br>
            <a:r>
              <a:rPr b="1" lang="en" sz="4000">
                <a:solidFill>
                  <a:srgbClr val="121212"/>
                </a:solidFill>
              </a:rPr>
              <a:t>Generative Adversarial Models</a:t>
            </a:r>
            <a:endParaRPr/>
          </a:p>
        </p:txBody>
      </p:sp>
      <p:sp>
        <p:nvSpPr>
          <p:cNvPr id="57" name="Google Shape;57;p15"/>
          <p:cNvSpPr txBox="1"/>
          <p:nvPr/>
        </p:nvSpPr>
        <p:spPr>
          <a:xfrm>
            <a:off x="338550" y="3238025"/>
            <a:ext cx="80952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Karthick Krishna M EE21B067</a:t>
            </a:r>
            <a:b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Vamsi Krishna Chilakamarri EE21B153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/>
        </p:nvSpPr>
        <p:spPr>
          <a:xfrm>
            <a:off x="957075" y="373275"/>
            <a:ext cx="71154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</a:rPr>
              <a:t>Generating New Images using AI</a:t>
            </a:r>
            <a:endParaRPr b="1" sz="3500">
              <a:solidFill>
                <a:schemeClr val="dk1"/>
              </a:solidFill>
            </a:endParaRPr>
          </a:p>
        </p:txBody>
      </p:sp>
      <p:sp>
        <p:nvSpPr>
          <p:cNvPr id="63" name="Google Shape;63;p16"/>
          <p:cNvSpPr txBox="1"/>
          <p:nvPr/>
        </p:nvSpPr>
        <p:spPr>
          <a:xfrm>
            <a:off x="533875" y="1874225"/>
            <a:ext cx="2853900" cy="1622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 SemiBold"/>
                <a:ea typeface="Montserrat SemiBold"/>
                <a:cs typeface="Montserrat SemiBold"/>
                <a:sym typeface="Montserrat SemiBold"/>
              </a:rPr>
              <a:t>Maximising Likelihood</a:t>
            </a:r>
            <a:br>
              <a:rPr lang="en" sz="180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br>
              <a:rPr lang="en" sz="180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Learn Data Distribution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6"/>
          <p:cNvSpPr txBox="1"/>
          <p:nvPr/>
        </p:nvSpPr>
        <p:spPr>
          <a:xfrm>
            <a:off x="5283675" y="1836275"/>
            <a:ext cx="2788800" cy="1573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 SemiBold"/>
                <a:ea typeface="Montserrat SemiBold"/>
                <a:cs typeface="Montserrat SemiBold"/>
                <a:sym typeface="Montserrat SemiBold"/>
              </a:rPr>
              <a:t>Adversarial</a:t>
            </a:r>
            <a:r>
              <a:rPr lang="en" sz="1900">
                <a:latin typeface="Montserrat SemiBold"/>
                <a:ea typeface="Montserrat SemiBold"/>
                <a:cs typeface="Montserrat SemiBold"/>
                <a:sym typeface="Montserrat SemiBold"/>
              </a:rPr>
              <a:t> Methods</a:t>
            </a:r>
            <a:endParaRPr sz="19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Learn to Fake data samples</a:t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" name="Google Shape;65;p16"/>
          <p:cNvCxnSpPr>
            <a:stCxn id="62" idx="2"/>
            <a:endCxn id="63" idx="0"/>
          </p:cNvCxnSpPr>
          <p:nvPr/>
        </p:nvCxnSpPr>
        <p:spPr>
          <a:xfrm flipH="1">
            <a:off x="1960875" y="1328175"/>
            <a:ext cx="2553900" cy="5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6"/>
          <p:cNvCxnSpPr>
            <a:stCxn id="62" idx="2"/>
            <a:endCxn id="64" idx="0"/>
          </p:cNvCxnSpPr>
          <p:nvPr/>
        </p:nvCxnSpPr>
        <p:spPr>
          <a:xfrm>
            <a:off x="4514775" y="1328175"/>
            <a:ext cx="2163300" cy="50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" name="Google Shape;6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94" y="3563615"/>
            <a:ext cx="3767124" cy="104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6532" y="3420423"/>
            <a:ext cx="2983099" cy="145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388" y="1250623"/>
            <a:ext cx="7001224" cy="34250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7"/>
          <p:cNvSpPr txBox="1"/>
          <p:nvPr/>
        </p:nvSpPr>
        <p:spPr>
          <a:xfrm>
            <a:off x="957075" y="373275"/>
            <a:ext cx="71154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Generative Adversarial Models (GANs)</a:t>
            </a:r>
            <a:endParaRPr b="1" sz="2300"/>
          </a:p>
        </p:txBody>
      </p:sp>
      <p:sp>
        <p:nvSpPr>
          <p:cNvPr id="75" name="Google Shape;75;p17"/>
          <p:cNvSpPr txBox="1"/>
          <p:nvPr/>
        </p:nvSpPr>
        <p:spPr>
          <a:xfrm>
            <a:off x="284300" y="1931525"/>
            <a:ext cx="23007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9900"/>
                </a:solidFill>
              </a:rPr>
              <a:t>2 Player Game</a:t>
            </a:r>
            <a:endParaRPr b="1" sz="2000">
              <a:solidFill>
                <a:srgbClr val="FF99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8478" y="2447153"/>
            <a:ext cx="6072600" cy="119944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 txBox="1"/>
          <p:nvPr/>
        </p:nvSpPr>
        <p:spPr>
          <a:xfrm>
            <a:off x="6002925" y="1653725"/>
            <a:ext cx="22461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</a:rPr>
              <a:t>Discriminator Identifies Real Data as Real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82" name="Google Shape;82;p18"/>
          <p:cNvSpPr txBox="1"/>
          <p:nvPr/>
        </p:nvSpPr>
        <p:spPr>
          <a:xfrm>
            <a:off x="6002925" y="3960475"/>
            <a:ext cx="22461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</a:rPr>
              <a:t>Discriminator Identifies Fake Data as Fake</a:t>
            </a:r>
            <a:endParaRPr b="1">
              <a:solidFill>
                <a:schemeClr val="accent6"/>
              </a:solidFill>
            </a:endParaRPr>
          </a:p>
        </p:txBody>
      </p:sp>
      <p:cxnSp>
        <p:nvCxnSpPr>
          <p:cNvPr id="83" name="Google Shape;83;p18"/>
          <p:cNvCxnSpPr>
            <a:stCxn id="81" idx="2"/>
          </p:cNvCxnSpPr>
          <p:nvPr/>
        </p:nvCxnSpPr>
        <p:spPr>
          <a:xfrm flipH="1">
            <a:off x="6567075" y="2218025"/>
            <a:ext cx="558900" cy="34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8"/>
          <p:cNvCxnSpPr>
            <a:stCxn id="82" idx="0"/>
          </p:cNvCxnSpPr>
          <p:nvPr/>
        </p:nvCxnSpPr>
        <p:spPr>
          <a:xfrm rot="10800000">
            <a:off x="6295875" y="3498475"/>
            <a:ext cx="83010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8"/>
          <p:cNvSpPr txBox="1"/>
          <p:nvPr/>
        </p:nvSpPr>
        <p:spPr>
          <a:xfrm>
            <a:off x="957075" y="373275"/>
            <a:ext cx="71154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Generative Adversarial Models (GANs)</a:t>
            </a:r>
            <a:endParaRPr b="1"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/>
          <p:nvPr/>
        </p:nvSpPr>
        <p:spPr>
          <a:xfrm>
            <a:off x="5401125" y="2339973"/>
            <a:ext cx="1298400" cy="134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Classifier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9"/>
          <p:cNvSpPr/>
          <p:nvPr/>
        </p:nvSpPr>
        <p:spPr>
          <a:xfrm>
            <a:off x="1757623" y="1459600"/>
            <a:ext cx="1298400" cy="134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Generator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0" y="1899100"/>
            <a:ext cx="139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Random Seed</a:t>
            </a:r>
            <a:r>
              <a:rPr lang="en"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(z)</a:t>
            </a:r>
            <a:endParaRPr sz="15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3839846" y="3382633"/>
            <a:ext cx="113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 (x)</a:t>
            </a:r>
            <a:endParaRPr sz="15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3829949" y="1760500"/>
            <a:ext cx="1298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Generated</a:t>
            </a:r>
            <a:endParaRPr sz="15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G(z)</a:t>
            </a:r>
            <a:r>
              <a:rPr lang="en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7574574" y="2696975"/>
            <a:ext cx="139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Real(1)</a:t>
            </a:r>
            <a:br>
              <a:rPr lang="en"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Fake(0)</a:t>
            </a:r>
            <a:endParaRPr sz="15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1149575" y="2071450"/>
            <a:ext cx="522000" cy="11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/>
          <p:nvPr/>
        </p:nvSpPr>
        <p:spPr>
          <a:xfrm>
            <a:off x="3218263" y="2071450"/>
            <a:ext cx="522000" cy="11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 rot="5400000">
            <a:off x="4633950" y="2125750"/>
            <a:ext cx="243900" cy="9912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/>
          <p:nvPr/>
        </p:nvSpPr>
        <p:spPr>
          <a:xfrm flipH="1" rot="5400000">
            <a:off x="4633950" y="2765075"/>
            <a:ext cx="243900" cy="9912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6914388" y="3021725"/>
            <a:ext cx="522000" cy="11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8349" y="3778039"/>
            <a:ext cx="2382000" cy="1169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0051" y="3021725"/>
            <a:ext cx="1553549" cy="95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957075" y="373275"/>
            <a:ext cx="71154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Generative Adversarial Models (GANs)</a:t>
            </a:r>
            <a:endParaRPr b="1"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4600" y="2431200"/>
            <a:ext cx="3067875" cy="74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7355103" y="1653725"/>
            <a:ext cx="11988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9900"/>
                </a:solidFill>
              </a:rPr>
              <a:t>Discriminator Identifies Real Data as Real</a:t>
            </a:r>
            <a:endParaRPr b="1" sz="800">
              <a:solidFill>
                <a:srgbClr val="FF9900"/>
              </a:solidFill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7278903" y="3502046"/>
            <a:ext cx="11988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accent6"/>
                </a:solidFill>
              </a:rPr>
              <a:t>Discriminator Identifies Fake Data as Fake</a:t>
            </a:r>
            <a:endParaRPr b="1" sz="800">
              <a:solidFill>
                <a:schemeClr val="accent6"/>
              </a:solidFill>
            </a:endParaRPr>
          </a:p>
        </p:txBody>
      </p:sp>
      <p:cxnSp>
        <p:nvCxnSpPr>
          <p:cNvPr id="111" name="Google Shape;111;p20"/>
          <p:cNvCxnSpPr>
            <a:stCxn id="109" idx="2"/>
          </p:cNvCxnSpPr>
          <p:nvPr/>
        </p:nvCxnSpPr>
        <p:spPr>
          <a:xfrm flipH="1">
            <a:off x="7392003" y="2105825"/>
            <a:ext cx="562500" cy="38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20"/>
          <p:cNvCxnSpPr>
            <a:stCxn id="110" idx="0"/>
          </p:cNvCxnSpPr>
          <p:nvPr/>
        </p:nvCxnSpPr>
        <p:spPr>
          <a:xfrm rot="10800000">
            <a:off x="7283403" y="3107846"/>
            <a:ext cx="594900" cy="3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20"/>
          <p:cNvSpPr txBox="1"/>
          <p:nvPr/>
        </p:nvSpPr>
        <p:spPr>
          <a:xfrm>
            <a:off x="327700" y="1035200"/>
            <a:ext cx="4535700" cy="3798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:</a:t>
            </a:r>
            <a:br>
              <a:rPr lang="en" sz="1700">
                <a:latin typeface="Montserrat"/>
                <a:ea typeface="Montserrat"/>
                <a:cs typeface="Montserrat"/>
                <a:sym typeface="Montserrat"/>
              </a:rPr>
            </a:b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1) Sample True Data samples and Generator Samples.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2) Train Discriminator by freezing Generator.</a:t>
            </a:r>
            <a:b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3) Train Generator by freezing Discriminator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4) Loop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957075" y="373275"/>
            <a:ext cx="71154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Generative Adversarial Models (GANs)</a:t>
            </a:r>
            <a:endParaRPr b="1"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/>
        </p:nvSpPr>
        <p:spPr>
          <a:xfrm>
            <a:off x="957075" y="373275"/>
            <a:ext cx="71154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Drawbacks</a:t>
            </a:r>
            <a:endParaRPr b="1" sz="2300"/>
          </a:p>
        </p:txBody>
      </p:sp>
      <p:sp>
        <p:nvSpPr>
          <p:cNvPr id="120" name="Google Shape;120;p21"/>
          <p:cNvSpPr txBox="1"/>
          <p:nvPr/>
        </p:nvSpPr>
        <p:spPr>
          <a:xfrm>
            <a:off x="620700" y="980950"/>
            <a:ext cx="7617600" cy="3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ontserrat Medium"/>
              <a:buChar char="-"/>
            </a:pPr>
            <a:r>
              <a:rPr lang="en" sz="1800">
                <a:latin typeface="Montserrat Medium"/>
                <a:ea typeface="Montserrat Medium"/>
                <a:cs typeface="Montserrat Medium"/>
                <a:sym typeface="Montserrat Medium"/>
              </a:rPr>
              <a:t>Mode Collapse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Montserrat Medium"/>
              <a:buChar char="-"/>
            </a:pPr>
            <a:r>
              <a:rPr lang="en" sz="1800">
                <a:latin typeface="Montserrat Medium"/>
                <a:ea typeface="Montserrat Medium"/>
                <a:cs typeface="Montserrat Medium"/>
                <a:sym typeface="Montserrat Medium"/>
              </a:rPr>
              <a:t>Convergence to Local Optima</a:t>
            </a:r>
            <a:br>
              <a:rPr lang="en" sz="1800"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175" y="1371597"/>
            <a:ext cx="5662800" cy="172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/>
        </p:nvSpPr>
        <p:spPr>
          <a:xfrm>
            <a:off x="957075" y="373275"/>
            <a:ext cx="7115400" cy="27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GANGs: Generative Adversarial Network Games</a:t>
            </a:r>
            <a:br>
              <a:rPr b="1" lang="en" sz="2300"/>
            </a:br>
            <a:r>
              <a:rPr lang="en" sz="1100"/>
              <a:t>Frans A. Oliehoek, Rahul Savani,Jose Gallego-Posada, Elise van der Pol, Edwin D. de Jong, Roderich Groß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7" name="Google Shape;127;p22"/>
          <p:cNvSpPr txBox="1"/>
          <p:nvPr/>
        </p:nvSpPr>
        <p:spPr>
          <a:xfrm>
            <a:off x="327700" y="1873400"/>
            <a:ext cx="8398800" cy="235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Problems with Original GAN Paper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:</a:t>
            </a:r>
            <a:br>
              <a:rPr lang="en" sz="1700">
                <a:latin typeface="Montserrat"/>
                <a:ea typeface="Montserrat"/>
                <a:cs typeface="Montserrat"/>
                <a:sym typeface="Montserrat"/>
              </a:rPr>
            </a:b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1) 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Lack of Formal Game-Theoretic Justification.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2) Absence of Consideration for Resource Constraints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3) Non-Convergence and Lack of Equilibrium in Practice</a:t>
            </a:r>
            <a:b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/>
        </p:nvSpPr>
        <p:spPr>
          <a:xfrm>
            <a:off x="957075" y="373275"/>
            <a:ext cx="71154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Formulating GANs as Zero Sum Games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33" name="Google Shape;133;p23"/>
          <p:cNvSpPr txBox="1"/>
          <p:nvPr/>
        </p:nvSpPr>
        <p:spPr>
          <a:xfrm>
            <a:off x="327700" y="1122075"/>
            <a:ext cx="8398800" cy="381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Char char="-"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Utilities of G and C in the original setting: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Char char="-"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is equivalent to a zero sum game with utilities: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900" y="1763300"/>
            <a:ext cx="3971475" cy="36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6625" y="2124338"/>
            <a:ext cx="3610750" cy="36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3550" y="3487675"/>
            <a:ext cx="3376899" cy="36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6625" y="3927738"/>
            <a:ext cx="3610750" cy="36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/>
        </p:nvSpPr>
        <p:spPr>
          <a:xfrm>
            <a:off x="957075" y="373275"/>
            <a:ext cx="71154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Game Theoretic Formulation of GANGs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075" y="1654275"/>
            <a:ext cx="450532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284300" y="1046050"/>
            <a:ext cx="77883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Zero Sum Strategic-Form Game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73400"/>
            <a:ext cx="8839199" cy="2586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/>
        </p:nvSpPr>
        <p:spPr>
          <a:xfrm>
            <a:off x="957075" y="373275"/>
            <a:ext cx="71154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Motivation </a:t>
            </a:r>
            <a:r>
              <a:rPr b="1" lang="en" sz="2300"/>
              <a:t>behind GANGs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51" name="Google Shape;151;p25"/>
          <p:cNvSpPr txBox="1"/>
          <p:nvPr/>
        </p:nvSpPr>
        <p:spPr>
          <a:xfrm>
            <a:off x="327700" y="1503075"/>
            <a:ext cx="8398800" cy="2463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Provide Game Theoretic Insights to GANs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Obtain Global Nash Equilibrium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Mixed Strategies to Avoid Local Equilibrium and Mode Collapse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 an Approximate formulation of the game for real constraints </a:t>
            </a:r>
            <a:b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- Advancements in Parallel Nash Memory</a:t>
            </a:r>
            <a:b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/>
        </p:nvSpPr>
        <p:spPr>
          <a:xfrm>
            <a:off x="957075" y="373275"/>
            <a:ext cx="71154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Finite Games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57" name="Google Shape;157;p26"/>
          <p:cNvSpPr txBox="1"/>
          <p:nvPr/>
        </p:nvSpPr>
        <p:spPr>
          <a:xfrm>
            <a:off x="327700" y="1122075"/>
            <a:ext cx="8398800" cy="381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Char char="-"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 of Players and Strategies is Finite.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Approximate GANGs as Finite Games :-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Floating Point Approximation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 Medium"/>
              <a:buAutoNum type="arabicParenR"/>
            </a:pPr>
            <a:r>
              <a:rPr lang="en"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Minimax Theorem</a:t>
            </a: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 Medium"/>
              <a:buAutoNum type="arabicParenR"/>
            </a:pPr>
            <a:r>
              <a:rPr lang="en"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Approximate Equilibrium (epsilon-NE):</a:t>
            </a: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6572" y="2609000"/>
            <a:ext cx="3610850" cy="53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4187" y="4029925"/>
            <a:ext cx="4168641" cy="53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/>
        </p:nvSpPr>
        <p:spPr>
          <a:xfrm>
            <a:off x="957075" y="373275"/>
            <a:ext cx="71154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Finite Games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65" name="Google Shape;165;p27"/>
          <p:cNvSpPr txBox="1"/>
          <p:nvPr/>
        </p:nvSpPr>
        <p:spPr>
          <a:xfrm>
            <a:off x="327700" y="1122075"/>
            <a:ext cx="8398800" cy="381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Char char="-"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 of Players and Strategies is Finite.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Approximate GANGs as Finite Games :-</a:t>
            </a: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Floating Point Approximation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 Medium"/>
              <a:buChar char="-"/>
            </a:pPr>
            <a:r>
              <a:rPr lang="en"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Local Nash Equilibrium (LNE):</a:t>
            </a: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	Neither Player can Deviate in a neighbourhood of profile</a:t>
            </a:r>
            <a:b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Every LNE = NE in Mixed Strategy Finite Games </a:t>
            </a: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/>
        </p:nvSpPr>
        <p:spPr>
          <a:xfrm>
            <a:off x="957075" y="373275"/>
            <a:ext cx="71154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Resource Constrained Best Response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71" name="Google Shape;171;p28"/>
          <p:cNvSpPr txBox="1"/>
          <p:nvPr/>
        </p:nvSpPr>
        <p:spPr>
          <a:xfrm>
            <a:off x="327700" y="1122075"/>
            <a:ext cx="8398800" cy="381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 Medium"/>
              <a:buChar char="-"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Only involve solutions feasible with computational budget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	    : Resource Constrained Strategies for Best Response Candidate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RBBR (Resource Bounded Best Response):</a:t>
            </a:r>
            <a:endParaRPr sz="17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Resource Bounded Best Response Function:</a:t>
            </a:r>
            <a:endParaRPr sz="17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					 </a:t>
            </a:r>
            <a:r>
              <a:rPr lang="en"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such that</a:t>
            </a: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endParaRPr sz="17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000" y="1700600"/>
            <a:ext cx="946100" cy="3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925" y="2632225"/>
            <a:ext cx="946100" cy="332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2425" y="2621877"/>
            <a:ext cx="3502066" cy="33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925" y="3750075"/>
            <a:ext cx="946100" cy="4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67098" y="3750075"/>
            <a:ext cx="1217202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86800" y="3695819"/>
            <a:ext cx="2394807" cy="4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/>
        </p:nvSpPr>
        <p:spPr>
          <a:xfrm>
            <a:off x="957075" y="373275"/>
            <a:ext cx="71154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Resource Bounded GANG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83" name="Google Shape;183;p29"/>
          <p:cNvSpPr txBox="1"/>
          <p:nvPr/>
        </p:nvSpPr>
        <p:spPr>
          <a:xfrm>
            <a:off x="327700" y="1122075"/>
            <a:ext cx="8398800" cy="1692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Tuple</a:t>
            </a: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(RB-NE)Resource Bounded Nash Equilibrium</a:t>
            </a:r>
            <a:r>
              <a:rPr lang="en" sz="17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</a:t>
            </a:r>
            <a:endParaRPr sz="17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Strategy Profile					if  </a:t>
            </a:r>
            <a:b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175" y="1142645"/>
            <a:ext cx="5288901" cy="38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1650" y="2211021"/>
            <a:ext cx="1223775" cy="33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7525" y="2188600"/>
            <a:ext cx="3381053" cy="3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9"/>
          <p:cNvSpPr txBox="1"/>
          <p:nvPr/>
        </p:nvSpPr>
        <p:spPr>
          <a:xfrm>
            <a:off x="316850" y="3151200"/>
            <a:ext cx="8475000" cy="1790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 SemiBold"/>
                <a:ea typeface="Montserrat SemiBold"/>
                <a:cs typeface="Montserrat SemiBold"/>
                <a:sym typeface="Montserrat SemiBold"/>
              </a:rPr>
              <a:t>Theorem:</a:t>
            </a:r>
            <a:br>
              <a:rPr lang="en" sz="170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endParaRPr sz="17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8" name="Google Shape;18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798" y="3591175"/>
            <a:ext cx="5136965" cy="33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4800" y="3935976"/>
            <a:ext cx="6186051" cy="2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575" y="1332450"/>
            <a:ext cx="4309650" cy="365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/>
        </p:nvSpPr>
        <p:spPr>
          <a:xfrm>
            <a:off x="957075" y="373275"/>
            <a:ext cx="71154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Parallel Nash Memory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/>
        </p:nvSpPr>
        <p:spPr>
          <a:xfrm>
            <a:off x="957075" y="373275"/>
            <a:ext cx="71154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PNM Algorithm for Training GANs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201" name="Google Shape;2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0850" y="1122075"/>
            <a:ext cx="5022303" cy="371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/>
        </p:nvSpPr>
        <p:spPr>
          <a:xfrm>
            <a:off x="957075" y="373275"/>
            <a:ext cx="71154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Convergence of PNM Algorithm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07" name="Google Shape;207;p32"/>
          <p:cNvSpPr txBox="1"/>
          <p:nvPr/>
        </p:nvSpPr>
        <p:spPr>
          <a:xfrm>
            <a:off x="455100" y="3127200"/>
            <a:ext cx="8233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If u</a:t>
            </a:r>
            <a:r>
              <a:rPr baseline="-25000" lang="en">
                <a:latin typeface="Montserrat"/>
                <a:ea typeface="Montserrat"/>
                <a:cs typeface="Montserrat"/>
                <a:sym typeface="Montserrat"/>
              </a:rPr>
              <a:t>BRs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&lt;=0 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The number of pure strategies encountered and the support of SG monotonically increases, and by the finite game argument convergence is guaranteed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(There exists literature on search heuristics to calculate BR that involve solving POMDPs that arise out of the mixed strategies)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8" name="Google Shape;2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400" y="915500"/>
            <a:ext cx="4329650" cy="17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2404" y="3127201"/>
            <a:ext cx="3983601" cy="6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00050"/>
            <a:ext cx="8839200" cy="3245513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3"/>
          <p:cNvSpPr txBox="1"/>
          <p:nvPr/>
        </p:nvSpPr>
        <p:spPr>
          <a:xfrm>
            <a:off x="957075" y="373275"/>
            <a:ext cx="71154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Simulations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16" name="Google Shape;216;p33"/>
          <p:cNvSpPr txBox="1"/>
          <p:nvPr/>
        </p:nvSpPr>
        <p:spPr>
          <a:xfrm>
            <a:off x="416525" y="1122075"/>
            <a:ext cx="905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Iterative improvement of mixed state Nash Equilibrium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33"/>
          <p:cNvSpPr txBox="1"/>
          <p:nvPr/>
        </p:nvSpPr>
        <p:spPr>
          <a:xfrm>
            <a:off x="5706500" y="1122075"/>
            <a:ext cx="905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(Could be a slow process)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33"/>
          <p:cNvSpPr txBox="1"/>
          <p:nvPr/>
        </p:nvSpPr>
        <p:spPr>
          <a:xfrm>
            <a:off x="2480975" y="4662975"/>
            <a:ext cx="49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Black - Real Data 		Green - Fake Data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/>
        </p:nvSpPr>
        <p:spPr>
          <a:xfrm>
            <a:off x="957075" y="373275"/>
            <a:ext cx="71154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Simulations - </a:t>
            </a:r>
            <a:r>
              <a:rPr b="1" lang="en" sz="2300"/>
              <a:t>Adding Uniform Fake samples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150" y="1703650"/>
            <a:ext cx="6247351" cy="29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4"/>
          <p:cNvSpPr txBox="1"/>
          <p:nvPr/>
        </p:nvSpPr>
        <p:spPr>
          <a:xfrm>
            <a:off x="2440250" y="4646350"/>
            <a:ext cx="559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PNM				     PNM w Uniform Fake Samples</a:t>
            </a:r>
            <a:endParaRPr b="1"/>
          </a:p>
        </p:txBody>
      </p:sp>
      <p:sp>
        <p:nvSpPr>
          <p:cNvPr id="226" name="Google Shape;226;p34"/>
          <p:cNvSpPr txBox="1"/>
          <p:nvPr/>
        </p:nvSpPr>
        <p:spPr>
          <a:xfrm>
            <a:off x="386300" y="1122075"/>
            <a:ext cx="905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Adding uniformly sampled fake data in the bounding box spanned by the real and fake images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/>
        </p:nvSpPr>
        <p:spPr>
          <a:xfrm>
            <a:off x="957075" y="373275"/>
            <a:ext cx="71154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Simulations</a:t>
            </a:r>
            <a:endParaRPr sz="900"/>
          </a:p>
        </p:txBody>
      </p:sp>
      <p:pic>
        <p:nvPicPr>
          <p:cNvPr id="232" name="Google Shape;23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949" y="1097552"/>
            <a:ext cx="1961531" cy="1531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8034" y="1075239"/>
            <a:ext cx="2005566" cy="157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7481" y="1053299"/>
            <a:ext cx="2005566" cy="1531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9013" y="2796853"/>
            <a:ext cx="1961516" cy="162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90251" y="2819449"/>
            <a:ext cx="1941135" cy="16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01755" y="2796853"/>
            <a:ext cx="2005584" cy="157612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5"/>
          <p:cNvSpPr txBox="1"/>
          <p:nvPr/>
        </p:nvSpPr>
        <p:spPr>
          <a:xfrm>
            <a:off x="2500875" y="4743300"/>
            <a:ext cx="493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Black - Real Data 		Green - Fake Data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/>
        </p:nvSpPr>
        <p:spPr>
          <a:xfrm>
            <a:off x="2186250" y="2233200"/>
            <a:ext cx="4771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Thank You!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eme10">
  <a:themeElements>
    <a:clrScheme name="Theme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